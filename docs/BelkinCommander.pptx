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2338" y="-5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D27D4-909A-4CA5-9C5B-62B9BCA7ACA2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3F0D7-8B6E-44E1-823C-5BD4F66213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8605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D27D4-909A-4CA5-9C5B-62B9BCA7ACA2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3F0D7-8B6E-44E1-823C-5BD4F66213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4356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D27D4-909A-4CA5-9C5B-62B9BCA7ACA2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3F0D7-8B6E-44E1-823C-5BD4F66213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088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D27D4-909A-4CA5-9C5B-62B9BCA7ACA2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3F0D7-8B6E-44E1-823C-5BD4F66213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1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D27D4-909A-4CA5-9C5B-62B9BCA7ACA2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3F0D7-8B6E-44E1-823C-5BD4F66213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3398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D27D4-909A-4CA5-9C5B-62B9BCA7ACA2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3F0D7-8B6E-44E1-823C-5BD4F66213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0870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D27D4-909A-4CA5-9C5B-62B9BCA7ACA2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3F0D7-8B6E-44E1-823C-5BD4F66213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2057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D27D4-909A-4CA5-9C5B-62B9BCA7ACA2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3F0D7-8B6E-44E1-823C-5BD4F66213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9414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D27D4-909A-4CA5-9C5B-62B9BCA7ACA2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3F0D7-8B6E-44E1-823C-5BD4F66213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8510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D27D4-909A-4CA5-9C5B-62B9BCA7ACA2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3F0D7-8B6E-44E1-823C-5BD4F66213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6887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D27D4-909A-4CA5-9C5B-62B9BCA7ACA2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3F0D7-8B6E-44E1-823C-5BD4F66213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2155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D27D4-909A-4CA5-9C5B-62B9BCA7ACA2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23F0D7-8B6E-44E1-823C-5BD4F66213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4737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3568" y="980728"/>
            <a:ext cx="7772400" cy="1470025"/>
          </a:xfrm>
        </p:spPr>
        <p:txBody>
          <a:bodyPr/>
          <a:lstStyle/>
          <a:p>
            <a:r>
              <a:rPr lang="en-US" dirty="0" err="1" smtClean="0"/>
              <a:t>Belkin</a:t>
            </a:r>
            <a:r>
              <a:rPr lang="en-US" dirty="0" smtClean="0"/>
              <a:t> Commander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solidFill>
                  <a:schemeClr val="tx1"/>
                </a:solidFill>
                <a:effectLst/>
              </a:rPr>
              <a:t>Расширяемый, </a:t>
            </a:r>
            <a:r>
              <a:rPr lang="ru-RU" dirty="0" err="1" smtClean="0">
                <a:solidFill>
                  <a:schemeClr val="tx1"/>
                </a:solidFill>
                <a:effectLst/>
              </a:rPr>
              <a:t>двухпанельный</a:t>
            </a:r>
            <a:r>
              <a:rPr lang="ru-RU" dirty="0" smtClean="0">
                <a:solidFill>
                  <a:schemeClr val="tx1"/>
                </a:solidFill>
                <a:effectLst/>
              </a:rPr>
              <a:t> файловый менеджер с </a:t>
            </a:r>
            <a:r>
              <a:rPr lang="ru-RU" dirty="0" err="1" smtClean="0">
                <a:solidFill>
                  <a:schemeClr val="tx1"/>
                </a:solidFill>
                <a:effectLst/>
              </a:rPr>
              <a:t>плагинной</a:t>
            </a:r>
            <a:r>
              <a:rPr lang="ru-RU" dirty="0" smtClean="0">
                <a:solidFill>
                  <a:schemeClr val="tx1"/>
                </a:solidFill>
                <a:effectLst/>
              </a:rPr>
              <a:t> архитектурой.</a:t>
            </a:r>
            <a:endParaRPr lang="ru-RU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69235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Высокоуровневая архитектура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1196753"/>
            <a:ext cx="8208912" cy="4320480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 smtClean="0">
                <a:effectLst/>
              </a:rPr>
              <a:t>Core</a:t>
            </a:r>
            <a:endParaRPr lang="en-US" sz="2400" dirty="0" smtClean="0">
              <a:effectLst/>
            </a:endParaRPr>
          </a:p>
          <a:p>
            <a:r>
              <a:rPr lang="ru-RU" sz="2400" dirty="0" smtClean="0">
                <a:effectLst/>
              </a:rPr>
              <a:t>интерфейс плагинов (</a:t>
            </a:r>
            <a:r>
              <a:rPr lang="en-US" sz="2400" dirty="0" err="1" smtClean="0">
                <a:effectLst/>
              </a:rPr>
              <a:t>IPlugin</a:t>
            </a:r>
            <a:r>
              <a:rPr lang="en-US" sz="2400" dirty="0" smtClean="0">
                <a:effectLst/>
              </a:rPr>
              <a:t>),</a:t>
            </a:r>
          </a:p>
          <a:p>
            <a:r>
              <a:rPr lang="ru-RU" sz="2400" dirty="0" smtClean="0">
                <a:effectLst/>
              </a:rPr>
              <a:t>интерфейс </a:t>
            </a:r>
            <a:r>
              <a:rPr lang="en-US" sz="2400" dirty="0" err="1" smtClean="0">
                <a:effectLst/>
              </a:rPr>
              <a:t>ApplicationAPI</a:t>
            </a:r>
            <a:r>
              <a:rPr lang="en-US" sz="2400" dirty="0" smtClean="0">
                <a:effectLst/>
              </a:rPr>
              <a:t>,</a:t>
            </a:r>
          </a:p>
          <a:p>
            <a:r>
              <a:rPr lang="ru-RU" sz="2400" dirty="0" smtClean="0">
                <a:effectLst/>
              </a:rPr>
              <a:t>сигналы, файловые операции не завязанные на </a:t>
            </a:r>
            <a:r>
              <a:rPr lang="en-US" sz="2400" dirty="0" smtClean="0">
                <a:effectLst/>
              </a:rPr>
              <a:t>UI.</a:t>
            </a:r>
          </a:p>
          <a:p>
            <a:r>
              <a:rPr lang="en-US" sz="2400" b="1" dirty="0" smtClean="0">
                <a:effectLst/>
              </a:rPr>
              <a:t>App</a:t>
            </a:r>
            <a:endParaRPr lang="en-US" sz="2400" dirty="0" smtClean="0">
              <a:effectLst/>
            </a:endParaRPr>
          </a:p>
          <a:p>
            <a:r>
              <a:rPr lang="ru-RU" sz="2400" dirty="0" smtClean="0">
                <a:effectLst/>
              </a:rPr>
              <a:t>реализация </a:t>
            </a:r>
            <a:r>
              <a:rPr lang="en-US" sz="2400" dirty="0" err="1" smtClean="0">
                <a:effectLst/>
              </a:rPr>
              <a:t>ApplicationAPI</a:t>
            </a:r>
            <a:r>
              <a:rPr lang="ru-RU" sz="2400" dirty="0"/>
              <a:t> </a:t>
            </a:r>
            <a:r>
              <a:rPr lang="ru-RU" sz="2400" dirty="0" smtClean="0"/>
              <a:t>(</a:t>
            </a:r>
            <a:r>
              <a:rPr lang="en-US" sz="2400" dirty="0" err="1"/>
              <a:t>MainWindow</a:t>
            </a:r>
            <a:r>
              <a:rPr lang="ru-RU" sz="2400" dirty="0" smtClean="0"/>
              <a:t>)</a:t>
            </a:r>
          </a:p>
          <a:p>
            <a:r>
              <a:rPr lang="en-US" sz="2400" dirty="0" err="1"/>
              <a:t>FilePanel</a:t>
            </a:r>
            <a:r>
              <a:rPr lang="en-US" sz="2400" dirty="0"/>
              <a:t>, </a:t>
            </a:r>
            <a:r>
              <a:rPr lang="en-US" sz="2400" dirty="0" err="1"/>
              <a:t>ShortcutManager</a:t>
            </a:r>
            <a:endParaRPr lang="en-US" sz="2400" dirty="0" smtClean="0">
              <a:effectLst/>
            </a:endParaRPr>
          </a:p>
          <a:p>
            <a:r>
              <a:rPr lang="ru-RU" sz="2400" dirty="0" smtClean="0">
                <a:effectLst/>
              </a:rPr>
              <a:t>загрузка и управление плагинами.</a:t>
            </a:r>
          </a:p>
          <a:p>
            <a:r>
              <a:rPr lang="en-US" sz="2400" b="1" dirty="0" smtClean="0">
                <a:effectLst/>
              </a:rPr>
              <a:t>Plugins</a:t>
            </a:r>
            <a:endParaRPr lang="en-US" sz="2400" dirty="0" smtClean="0">
              <a:effectLst/>
            </a:endParaRPr>
          </a:p>
          <a:p>
            <a:r>
              <a:rPr lang="ru-RU" sz="2400" dirty="0" smtClean="0">
                <a:effectLst/>
              </a:rPr>
              <a:t>функциональные расширения (например, </a:t>
            </a:r>
            <a:r>
              <a:rPr lang="en-US" sz="2400" dirty="0" err="1" smtClean="0">
                <a:effectLst/>
              </a:rPr>
              <a:t>FileOperationsBtn</a:t>
            </a:r>
            <a:r>
              <a:rPr lang="en-US" sz="2400" dirty="0" smtClean="0">
                <a:effectLst/>
              </a:rPr>
              <a:t>, </a:t>
            </a:r>
            <a:r>
              <a:rPr lang="en-US" sz="2400" dirty="0" err="1" smtClean="0">
                <a:effectLst/>
              </a:rPr>
              <a:t>DuplicateFinderPlugin</a:t>
            </a:r>
            <a:r>
              <a:rPr lang="en-US" sz="2400" dirty="0" smtClean="0"/>
              <a:t>, </a:t>
            </a:r>
            <a:r>
              <a:rPr lang="en-US" sz="2400" dirty="0" err="1" smtClean="0"/>
              <a:t>CopyPlugin</a:t>
            </a:r>
            <a:r>
              <a:rPr lang="en-US" sz="2400" dirty="0" smtClean="0">
                <a:effectLst/>
              </a:rPr>
              <a:t>)</a:t>
            </a:r>
          </a:p>
          <a:p>
            <a:r>
              <a:rPr lang="ru-RU" sz="2400" dirty="0" smtClean="0">
                <a:effectLst/>
              </a:rPr>
              <a:t>используют только публичный </a:t>
            </a:r>
            <a:r>
              <a:rPr lang="en-US" sz="2400" dirty="0" smtClean="0">
                <a:effectLst/>
              </a:rPr>
              <a:t>API, </a:t>
            </a:r>
            <a:r>
              <a:rPr lang="ru-RU" sz="2400" dirty="0" smtClean="0">
                <a:effectLst/>
              </a:rPr>
              <a:t>не лезут в детали реализации.</a:t>
            </a:r>
          </a:p>
          <a:p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724" y="5373216"/>
            <a:ext cx="6696744" cy="129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8612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Архитектура </a:t>
            </a:r>
            <a:r>
              <a:rPr lang="ru-RU" b="1" dirty="0" err="1" smtClean="0"/>
              <a:t>плагинной</a:t>
            </a:r>
            <a:r>
              <a:rPr lang="ru-RU" b="1" dirty="0" smtClean="0"/>
              <a:t> системы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1268760"/>
            <a:ext cx="3762102" cy="5112568"/>
          </a:xfrm>
        </p:spPr>
        <p:txBody>
          <a:bodyPr>
            <a:normAutofit fontScale="85000" lnSpcReduction="20000"/>
          </a:bodyPr>
          <a:lstStyle/>
          <a:p>
            <a:endParaRPr lang="en-US" sz="2400" b="1" dirty="0" smtClean="0">
              <a:effectLst/>
            </a:endParaRPr>
          </a:p>
          <a:p>
            <a:r>
              <a:rPr lang="ru-RU" sz="2400" b="1" dirty="0" smtClean="0">
                <a:effectLst/>
              </a:rPr>
              <a:t>Ключевые моменты:</a:t>
            </a:r>
            <a:endParaRPr lang="ru-RU" sz="2400" dirty="0" smtClean="0">
              <a:effectLst/>
            </a:endParaRPr>
          </a:p>
          <a:p>
            <a:r>
              <a:rPr lang="ru-RU" sz="2400" dirty="0" smtClean="0">
                <a:effectLst/>
              </a:rPr>
              <a:t>Плагин видит только </a:t>
            </a:r>
            <a:r>
              <a:rPr lang="en-US" sz="2400" dirty="0" err="1" smtClean="0">
                <a:effectLst/>
              </a:rPr>
              <a:t>ApplicationAPI</a:t>
            </a:r>
            <a:r>
              <a:rPr lang="en-US" sz="2400" dirty="0" smtClean="0">
                <a:effectLst/>
              </a:rPr>
              <a:t> </a:t>
            </a:r>
            <a:r>
              <a:rPr lang="ru-RU" sz="2400" dirty="0" smtClean="0">
                <a:effectLst/>
              </a:rPr>
              <a:t>и</a:t>
            </a:r>
            <a:r>
              <a:rPr lang="en-US" sz="2400" dirty="0" smtClean="0">
                <a:effectLst/>
              </a:rPr>
              <a:t> </a:t>
            </a:r>
            <a:r>
              <a:rPr lang="ru-RU" sz="2400" dirty="0" smtClean="0">
                <a:effectLst/>
              </a:rPr>
              <a:t>реализует </a:t>
            </a:r>
            <a:r>
              <a:rPr lang="en-US" sz="2400" dirty="0" err="1" smtClean="0"/>
              <a:t>FilePluginInterface</a:t>
            </a:r>
            <a:r>
              <a:rPr lang="en-US" sz="2400" dirty="0" smtClean="0">
                <a:effectLst/>
              </a:rPr>
              <a:t>.</a:t>
            </a:r>
          </a:p>
          <a:p>
            <a:r>
              <a:rPr lang="en-US" sz="2400" dirty="0" err="1" smtClean="0">
                <a:effectLst/>
              </a:rPr>
              <a:t>MainWindow</a:t>
            </a:r>
            <a:r>
              <a:rPr lang="en-US" sz="2400" dirty="0" smtClean="0">
                <a:effectLst/>
              </a:rPr>
              <a:t> </a:t>
            </a:r>
            <a:r>
              <a:rPr lang="ru-RU" sz="2400" dirty="0" smtClean="0">
                <a:effectLst/>
              </a:rPr>
              <a:t>реализует </a:t>
            </a:r>
            <a:r>
              <a:rPr lang="en-US" sz="2400" dirty="0" err="1" smtClean="0">
                <a:effectLst/>
              </a:rPr>
              <a:t>ApplicationAPI</a:t>
            </a:r>
            <a:r>
              <a:rPr lang="en-US" sz="2400" dirty="0" smtClean="0">
                <a:effectLst/>
              </a:rPr>
              <a:t> </a:t>
            </a:r>
            <a:r>
              <a:rPr lang="ru-RU" sz="2400" dirty="0" smtClean="0">
                <a:effectLst/>
              </a:rPr>
              <a:t>и управляет жизненным циклом плагинов.</a:t>
            </a:r>
          </a:p>
          <a:p>
            <a:r>
              <a:rPr lang="en-US" sz="2400" dirty="0" err="1" smtClean="0">
                <a:effectLst/>
              </a:rPr>
              <a:t>ShortcutManager</a:t>
            </a:r>
            <a:r>
              <a:rPr lang="en-US" sz="2400" dirty="0" smtClean="0">
                <a:effectLst/>
              </a:rPr>
              <a:t> </a:t>
            </a:r>
            <a:r>
              <a:rPr lang="ru-RU" sz="2400" dirty="0" smtClean="0">
                <a:effectLst/>
              </a:rPr>
              <a:t>инкапсулирует всю работу с </a:t>
            </a:r>
            <a:r>
              <a:rPr lang="en-US" sz="2400" dirty="0" err="1" smtClean="0">
                <a:effectLst/>
              </a:rPr>
              <a:t>QShortcut</a:t>
            </a:r>
            <a:r>
              <a:rPr lang="en-US" sz="2400" dirty="0" smtClean="0">
                <a:effectLst/>
              </a:rPr>
              <a:t>.</a:t>
            </a:r>
            <a:endParaRPr lang="ru-RU" sz="2400" dirty="0" smtClean="0">
              <a:effectLst/>
            </a:endParaRPr>
          </a:p>
          <a:p>
            <a:r>
              <a:rPr lang="ru-RU" sz="2400" dirty="0" smtClean="0"/>
              <a:t>Плагин может добавлять свою панель с </a:t>
            </a:r>
            <a:r>
              <a:rPr lang="ru-RU" sz="2400" dirty="0" err="1" smtClean="0"/>
              <a:t>виджетами</a:t>
            </a:r>
            <a:r>
              <a:rPr lang="ru-RU" sz="2400" dirty="0" smtClean="0"/>
              <a:t> и добавлять кнопку запуска плагина на панель, </a:t>
            </a:r>
            <a:br>
              <a:rPr lang="ru-RU" sz="2400" dirty="0" smtClean="0"/>
            </a:br>
            <a:r>
              <a:rPr lang="ru-RU" sz="2400" dirty="0" smtClean="0"/>
              <a:t>добавлять </a:t>
            </a:r>
            <a:r>
              <a:rPr lang="en-US" sz="2400" dirty="0" smtClean="0"/>
              <a:t>Actions </a:t>
            </a:r>
            <a:r>
              <a:rPr lang="ru-RU" sz="2400" dirty="0" smtClean="0"/>
              <a:t>в контекстное меню, добавлять </a:t>
            </a:r>
            <a:r>
              <a:rPr lang="ru-RU" sz="2400" dirty="0" err="1" smtClean="0"/>
              <a:t>шорткаты</a:t>
            </a:r>
            <a:r>
              <a:rPr lang="ru-RU" sz="2400" dirty="0" smtClean="0"/>
              <a:t>.</a:t>
            </a:r>
            <a:endParaRPr lang="ru-RU" sz="2400" dirty="0" smtClean="0">
              <a:effectLst/>
            </a:endParaRPr>
          </a:p>
          <a:p>
            <a:endParaRPr lang="en-US" sz="2400" dirty="0" smtClean="0">
              <a:effectLst/>
            </a:endParaRPr>
          </a:p>
          <a:p>
            <a:endParaRPr lang="ru-RU" dirty="0"/>
          </a:p>
        </p:txBody>
      </p:sp>
      <p:pic>
        <p:nvPicPr>
          <p:cNvPr id="1026" name="Picture 2" descr="E:\Downloads\File Plugin Interface-2026-02-17-070123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7638" y="1164019"/>
            <a:ext cx="4878858" cy="543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1915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err="1" smtClean="0"/>
              <a:t>ShortcutManager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600" dirty="0" smtClean="0">
                <a:effectLst/>
              </a:rPr>
              <a:t>Создаёт </a:t>
            </a:r>
            <a:r>
              <a:rPr lang="en-US" sz="2600" dirty="0" err="1" smtClean="0">
                <a:effectLst/>
              </a:rPr>
              <a:t>QShortcut</a:t>
            </a:r>
            <a:r>
              <a:rPr lang="en-US" sz="2600" dirty="0" smtClean="0">
                <a:effectLst/>
              </a:rPr>
              <a:t> </a:t>
            </a:r>
            <a:r>
              <a:rPr lang="ru-RU" sz="2600" dirty="0" smtClean="0">
                <a:effectLst/>
              </a:rPr>
              <a:t>на </a:t>
            </a:r>
            <a:r>
              <a:rPr lang="en-US" sz="2600" dirty="0" err="1" smtClean="0">
                <a:effectLst/>
              </a:rPr>
              <a:t>MainWindow</a:t>
            </a:r>
            <a:r>
              <a:rPr lang="en-US" sz="2600" dirty="0" smtClean="0">
                <a:effectLst/>
              </a:rPr>
              <a:t>.</a:t>
            </a:r>
          </a:p>
          <a:p>
            <a:r>
              <a:rPr lang="ru-RU" sz="2600" dirty="0" smtClean="0">
                <a:effectLst/>
              </a:rPr>
              <a:t>Хранит соответствие </a:t>
            </a:r>
            <a:r>
              <a:rPr lang="en-US" sz="2600" dirty="0" err="1" smtClean="0">
                <a:effectLst/>
              </a:rPr>
              <a:t>QShortcut</a:t>
            </a:r>
            <a:r>
              <a:rPr lang="en-US" sz="2600" dirty="0" smtClean="0">
                <a:effectLst/>
              </a:rPr>
              <a:t>* → </a:t>
            </a:r>
            <a:r>
              <a:rPr lang="en-US" sz="2600" dirty="0" err="1" smtClean="0">
                <a:effectLst/>
              </a:rPr>
              <a:t>QObject</a:t>
            </a:r>
            <a:r>
              <a:rPr lang="en-US" sz="2600" dirty="0" smtClean="0">
                <a:effectLst/>
              </a:rPr>
              <a:t>* (owner).</a:t>
            </a:r>
          </a:p>
          <a:p>
            <a:r>
              <a:rPr lang="ru-RU" sz="2600" dirty="0" smtClean="0">
                <a:effectLst/>
              </a:rPr>
              <a:t>Удаляет все </a:t>
            </a:r>
            <a:r>
              <a:rPr lang="ru-RU" sz="2600" dirty="0" err="1" smtClean="0">
                <a:effectLst/>
              </a:rPr>
              <a:t>шорткаты</a:t>
            </a:r>
            <a:r>
              <a:rPr lang="ru-RU" sz="2600" dirty="0" smtClean="0">
                <a:effectLst/>
              </a:rPr>
              <a:t>, связанные с конкретным плагином, при его выгрузке.</a:t>
            </a:r>
          </a:p>
          <a:p>
            <a:r>
              <a:rPr lang="ru-RU" sz="2600" dirty="0" smtClean="0">
                <a:effectLst/>
              </a:rPr>
              <a:t>Централизует логику горячих клавиш (в будущем — </a:t>
            </a:r>
            <a:r>
              <a:rPr lang="ru-RU" sz="2600" dirty="0" err="1" smtClean="0">
                <a:effectLst/>
              </a:rPr>
              <a:t>конфиги</a:t>
            </a:r>
            <a:r>
              <a:rPr lang="ru-RU" sz="2600" dirty="0" smtClean="0">
                <a:effectLst/>
              </a:rPr>
              <a:t>, </a:t>
            </a:r>
            <a:r>
              <a:rPr lang="en-US" sz="2600" dirty="0" smtClean="0">
                <a:effectLst/>
              </a:rPr>
              <a:t>GUI </a:t>
            </a:r>
            <a:r>
              <a:rPr lang="ru-RU" sz="2600" dirty="0" smtClean="0">
                <a:effectLst/>
              </a:rPr>
              <a:t>настроек, проверка конфликтов).</a:t>
            </a:r>
            <a:endParaRPr lang="en-US" sz="2600" dirty="0" smtClean="0">
              <a:effectLst/>
            </a:endParaRPr>
          </a:p>
          <a:p>
            <a:endParaRPr lang="ru-RU" dirty="0">
              <a:effectLst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437" y="4810720"/>
            <a:ext cx="9014229" cy="1187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8845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err="1"/>
              <a:t>FilePanel</a:t>
            </a:r>
            <a:r>
              <a:rPr lang="ru-RU" b="1" dirty="0"/>
              <a:t> и операции над файлами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FilePanel</a:t>
            </a:r>
            <a:r>
              <a:rPr lang="en-US" dirty="0" smtClean="0"/>
              <a:t> </a:t>
            </a:r>
            <a:r>
              <a:rPr lang="en-US" dirty="0"/>
              <a:t>— </a:t>
            </a:r>
            <a:r>
              <a:rPr lang="en-US" b="1" dirty="0"/>
              <a:t>UI-</a:t>
            </a:r>
            <a:r>
              <a:rPr lang="ru-RU" b="1" dirty="0"/>
              <a:t>компонент</a:t>
            </a:r>
            <a:r>
              <a:rPr lang="ru-RU" dirty="0"/>
              <a:t>, </a:t>
            </a:r>
            <a:r>
              <a:rPr lang="ru-RU" dirty="0" smtClean="0"/>
              <a:t>с базовым набором горячих клавиш (</a:t>
            </a:r>
            <a:r>
              <a:rPr lang="en-US" dirty="0" smtClean="0"/>
              <a:t>Del</a:t>
            </a:r>
            <a:r>
              <a:rPr lang="ru-RU" dirty="0" smtClean="0"/>
              <a:t>, </a:t>
            </a:r>
            <a:r>
              <a:rPr lang="en-US" dirty="0" err="1" smtClean="0"/>
              <a:t>Ctrl+C</a:t>
            </a:r>
            <a:r>
              <a:rPr lang="en-US" dirty="0" smtClean="0"/>
              <a:t>, </a:t>
            </a:r>
            <a:r>
              <a:rPr lang="en-US" dirty="0" err="1" smtClean="0"/>
              <a:t>Ctrl+V</a:t>
            </a:r>
            <a:r>
              <a:rPr lang="ru-RU" dirty="0" smtClean="0"/>
              <a:t>)</a:t>
            </a:r>
            <a:r>
              <a:rPr lang="en-US" dirty="0" smtClean="0"/>
              <a:t> </a:t>
            </a:r>
            <a:r>
              <a:rPr lang="ru-RU" dirty="0" smtClean="0"/>
              <a:t>и реализацией </a:t>
            </a:r>
            <a:r>
              <a:rPr lang="en-US" dirty="0" err="1" smtClean="0"/>
              <a:t>Drag&amp;Drop</a:t>
            </a:r>
            <a:r>
              <a:rPr lang="en-US" dirty="0" smtClean="0"/>
              <a:t> </a:t>
            </a:r>
          </a:p>
          <a:p>
            <a:endParaRPr lang="ru-RU" dirty="0"/>
          </a:p>
          <a:p>
            <a:r>
              <a:rPr lang="ru-RU" dirty="0" smtClean="0"/>
              <a:t>Операции над файлами через вызов функций из </a:t>
            </a:r>
            <a:r>
              <a:rPr lang="en-US" dirty="0" smtClean="0"/>
              <a:t>core</a:t>
            </a:r>
            <a:endParaRPr lang="en-US" dirty="0"/>
          </a:p>
          <a:p>
            <a:endParaRPr lang="ru-RU" dirty="0" smtClean="0"/>
          </a:p>
          <a:p>
            <a:r>
              <a:rPr lang="ru-RU" dirty="0" smtClean="0"/>
              <a:t>Поведение </a:t>
            </a:r>
            <a:r>
              <a:rPr lang="ru-RU" dirty="0"/>
              <a:t>можно </a:t>
            </a:r>
            <a:r>
              <a:rPr lang="ru-RU" dirty="0" smtClean="0"/>
              <a:t>расширять </a:t>
            </a:r>
            <a:r>
              <a:rPr lang="ru-RU" dirty="0"/>
              <a:t>через </a:t>
            </a:r>
            <a:r>
              <a:rPr lang="ru-RU" dirty="0" smtClean="0"/>
              <a:t>плагины (</a:t>
            </a:r>
            <a:r>
              <a:rPr lang="en-US" dirty="0" smtClean="0"/>
              <a:t>Actions, Shortcut</a:t>
            </a:r>
            <a:r>
              <a:rPr lang="ru-RU" dirty="0" smtClean="0"/>
              <a:t>)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9582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Использованные </a:t>
            </a:r>
            <a:r>
              <a:rPr lang="ru-RU" b="1" dirty="0"/>
              <a:t>паттерны проектирования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40000" lnSpcReduction="20000"/>
          </a:bodyPr>
          <a:lstStyle/>
          <a:p>
            <a:r>
              <a:rPr lang="en-US" sz="3500" b="1" dirty="0" smtClean="0"/>
              <a:t>Observer (</a:t>
            </a:r>
            <a:r>
              <a:rPr lang="ru-RU" sz="3500" b="1" dirty="0" smtClean="0"/>
              <a:t>Наблюдатель)</a:t>
            </a:r>
          </a:p>
          <a:p>
            <a:pPr marL="0" indent="0">
              <a:buNone/>
            </a:pPr>
            <a:r>
              <a:rPr lang="en-US" sz="3000" dirty="0" err="1" smtClean="0"/>
              <a:t>Qt</a:t>
            </a:r>
            <a:r>
              <a:rPr lang="en-US" sz="3000" dirty="0" smtClean="0"/>
              <a:t>‑</a:t>
            </a:r>
            <a:r>
              <a:rPr lang="ru-RU" sz="3000" dirty="0" smtClean="0"/>
              <a:t>сигналы и слоты реализуют паттерн </a:t>
            </a:r>
            <a:r>
              <a:rPr lang="en-US" sz="3000" i="1" dirty="0" smtClean="0"/>
              <a:t>Observer</a:t>
            </a:r>
            <a:r>
              <a:rPr lang="en-US" sz="3000" dirty="0" smtClean="0"/>
              <a:t>.</a:t>
            </a:r>
          </a:p>
          <a:p>
            <a:pPr marL="457200" lvl="1" indent="0">
              <a:buNone/>
            </a:pPr>
            <a:r>
              <a:rPr lang="ru-RU" sz="3000" dirty="0" smtClean="0"/>
              <a:t>Используется для уведомления о событиях:</a:t>
            </a:r>
          </a:p>
          <a:p>
            <a:pPr lvl="1"/>
            <a:r>
              <a:rPr lang="en-US" sz="3000" dirty="0" err="1" smtClean="0"/>
              <a:t>QShortcut</a:t>
            </a:r>
            <a:r>
              <a:rPr lang="en-US" sz="3000" dirty="0" smtClean="0"/>
              <a:t> → </a:t>
            </a:r>
            <a:r>
              <a:rPr lang="ru-RU" sz="3000" dirty="0" smtClean="0"/>
              <a:t>события назначенные на горячие клавиши</a:t>
            </a:r>
          </a:p>
          <a:p>
            <a:pPr lvl="1"/>
            <a:r>
              <a:rPr lang="en-US" sz="3000" dirty="0" err="1" smtClean="0"/>
              <a:t>FilePanel</a:t>
            </a:r>
            <a:r>
              <a:rPr lang="en-US" sz="3000" dirty="0" smtClean="0"/>
              <a:t> → </a:t>
            </a:r>
            <a:r>
              <a:rPr lang="ru-RU" sz="3000" dirty="0" smtClean="0"/>
              <a:t>события операций над файлами</a:t>
            </a:r>
          </a:p>
          <a:p>
            <a:pPr lvl="1"/>
            <a:r>
              <a:rPr lang="ru-RU" sz="3000" dirty="0" smtClean="0"/>
              <a:t>взаимодействие плагинов с </a:t>
            </a:r>
            <a:r>
              <a:rPr lang="en-US" sz="3000" dirty="0" err="1" smtClean="0"/>
              <a:t>ApplicationAPI</a:t>
            </a:r>
            <a:endParaRPr lang="en-US" sz="3000" dirty="0" smtClean="0"/>
          </a:p>
          <a:p>
            <a:endParaRPr lang="ru-RU" sz="3000" b="1" dirty="0" smtClean="0"/>
          </a:p>
          <a:p>
            <a:r>
              <a:rPr lang="ru-RU" sz="3500" b="1" dirty="0" err="1" smtClean="0"/>
              <a:t>Facade</a:t>
            </a:r>
            <a:r>
              <a:rPr lang="ru-RU" sz="3500" b="1" dirty="0" smtClean="0"/>
              <a:t> (Фасад)</a:t>
            </a:r>
            <a:endParaRPr lang="ru-RU" sz="3500" dirty="0" smtClean="0"/>
          </a:p>
          <a:p>
            <a:pPr marL="0" indent="0">
              <a:buNone/>
            </a:pPr>
            <a:r>
              <a:rPr lang="ru-RU" sz="3000" dirty="0" err="1" smtClean="0"/>
              <a:t>ApplicationAPI</a:t>
            </a:r>
            <a:r>
              <a:rPr lang="ru-RU" sz="3000" dirty="0" smtClean="0"/>
              <a:t> выступает как </a:t>
            </a:r>
            <a:r>
              <a:rPr lang="ru-RU" sz="3000" i="1" dirty="0" smtClean="0"/>
              <a:t>Фасад</a:t>
            </a:r>
            <a:r>
              <a:rPr lang="ru-RU" sz="3000" dirty="0" smtClean="0"/>
              <a:t>, предоставляя единый интерфейс к внутренней логике приложения:</a:t>
            </a:r>
          </a:p>
          <a:p>
            <a:pPr lvl="1"/>
            <a:r>
              <a:rPr lang="ru-RU" sz="3000" dirty="0" smtClean="0"/>
              <a:t>операции с файлами</a:t>
            </a:r>
          </a:p>
          <a:p>
            <a:pPr lvl="1"/>
            <a:r>
              <a:rPr lang="ru-RU" sz="3000" dirty="0" smtClean="0"/>
              <a:t>регистрация горячих клавиш</a:t>
            </a:r>
          </a:p>
          <a:p>
            <a:pPr lvl="1"/>
            <a:r>
              <a:rPr lang="ru-RU" sz="3000" dirty="0" smtClean="0"/>
              <a:t>доступ к активной панели и главному окну</a:t>
            </a:r>
          </a:p>
          <a:p>
            <a:pPr lvl="1"/>
            <a:endParaRPr lang="ru-RU" sz="3000" dirty="0" smtClean="0"/>
          </a:p>
          <a:p>
            <a:r>
              <a:rPr lang="ru-RU" sz="3500" b="1" dirty="0" err="1" smtClean="0"/>
              <a:t>Strategy</a:t>
            </a:r>
            <a:r>
              <a:rPr lang="ru-RU" sz="3500" b="1" dirty="0" smtClean="0"/>
              <a:t> (Стратегия)</a:t>
            </a:r>
            <a:endParaRPr lang="ru-RU" sz="3500" dirty="0" smtClean="0"/>
          </a:p>
          <a:p>
            <a:pPr lvl="1"/>
            <a:r>
              <a:rPr lang="ru-RU" sz="3000" dirty="0" smtClean="0"/>
              <a:t>Плагины реализуют разные стратегии поведения, используя общий интерфейс </a:t>
            </a:r>
            <a:r>
              <a:rPr lang="ru-RU" sz="3000" dirty="0" err="1" smtClean="0"/>
              <a:t>ApplicationAPI</a:t>
            </a:r>
            <a:r>
              <a:rPr lang="ru-RU" sz="3000" dirty="0" smtClean="0"/>
              <a:t>.</a:t>
            </a:r>
          </a:p>
          <a:p>
            <a:pPr lvl="1"/>
            <a:r>
              <a:rPr lang="ru-RU" sz="3000" dirty="0" smtClean="0"/>
              <a:t>Каждый плагин определяет собственный набор действий, горячих клавиш.</a:t>
            </a:r>
          </a:p>
          <a:p>
            <a:endParaRPr lang="ru-RU" sz="3000" b="1" dirty="0" smtClean="0"/>
          </a:p>
          <a:p>
            <a:r>
              <a:rPr lang="ru-RU" sz="3500" b="1" dirty="0" err="1" smtClean="0"/>
              <a:t>Dependency</a:t>
            </a:r>
            <a:r>
              <a:rPr lang="ru-RU" sz="3500" b="1" dirty="0" smtClean="0"/>
              <a:t> </a:t>
            </a:r>
            <a:r>
              <a:rPr lang="ru-RU" sz="3500" b="1" dirty="0" err="1" smtClean="0"/>
              <a:t>Inversion</a:t>
            </a:r>
            <a:r>
              <a:rPr lang="ru-RU" sz="3500" b="1" dirty="0" smtClean="0"/>
              <a:t> (Инверсия зависимостей)</a:t>
            </a:r>
            <a:endParaRPr lang="ru-RU" sz="3500" dirty="0" smtClean="0"/>
          </a:p>
          <a:p>
            <a:pPr lvl="1"/>
            <a:r>
              <a:rPr lang="ru-RU" sz="3000" dirty="0" smtClean="0"/>
              <a:t>Плагины зависят от абстракции </a:t>
            </a:r>
            <a:r>
              <a:rPr lang="ru-RU" sz="3000" dirty="0" err="1" smtClean="0"/>
              <a:t>ApplicationAPI</a:t>
            </a:r>
            <a:r>
              <a:rPr lang="ru-RU" sz="3000" dirty="0" smtClean="0"/>
              <a:t>, а не от конкретных классов UI.</a:t>
            </a:r>
          </a:p>
          <a:p>
            <a:pPr lvl="1"/>
            <a:r>
              <a:rPr lang="ru-RU" sz="3000" dirty="0" err="1" smtClean="0"/>
              <a:t>MainWindow</a:t>
            </a:r>
            <a:r>
              <a:rPr lang="ru-RU" sz="3000" dirty="0" smtClean="0"/>
              <a:t> лишь предоставляет реализацию API, но плагины остаются изолированы от деталей.</a:t>
            </a:r>
          </a:p>
          <a:p>
            <a:endParaRPr lang="ru-RU" sz="3000" b="1" dirty="0" smtClean="0"/>
          </a:p>
          <a:p>
            <a:r>
              <a:rPr lang="ru-RU" sz="3500" b="1" dirty="0" err="1" smtClean="0"/>
              <a:t>Manager</a:t>
            </a:r>
            <a:r>
              <a:rPr lang="ru-RU" sz="3500" b="1" dirty="0" smtClean="0"/>
              <a:t> / </a:t>
            </a:r>
            <a:r>
              <a:rPr lang="ru-RU" sz="3500" b="1" dirty="0" err="1" smtClean="0"/>
              <a:t>Service</a:t>
            </a:r>
            <a:r>
              <a:rPr lang="ru-RU" sz="3500" b="1" dirty="0" smtClean="0"/>
              <a:t> </a:t>
            </a:r>
            <a:r>
              <a:rPr lang="ru-RU" sz="3500" b="1" dirty="0" err="1" smtClean="0"/>
              <a:t>Object</a:t>
            </a:r>
            <a:endParaRPr lang="ru-RU" sz="3500" dirty="0" smtClean="0"/>
          </a:p>
          <a:p>
            <a:pPr lvl="1"/>
            <a:r>
              <a:rPr lang="ru-RU" sz="3000" dirty="0" err="1" smtClean="0"/>
              <a:t>ShortcutManager</a:t>
            </a:r>
            <a:r>
              <a:rPr lang="ru-RU" sz="3000" dirty="0" smtClean="0"/>
              <a:t> — сервисный объект, инкапсулирующий работу с горячими клавишами.</a:t>
            </a:r>
          </a:p>
          <a:p>
            <a:pPr lvl="1"/>
            <a:r>
              <a:rPr lang="ru-RU" sz="3000" dirty="0" smtClean="0"/>
              <a:t>Отвечает за регистрацию, хранение и обработку </a:t>
            </a:r>
            <a:r>
              <a:rPr lang="ru-RU" sz="3000" dirty="0" err="1" smtClean="0"/>
              <a:t>шорткатов</a:t>
            </a:r>
            <a:r>
              <a:rPr lang="ru-RU" sz="3000" dirty="0" smtClean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1990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Выводы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b="1" dirty="0" err="1" smtClean="0"/>
              <a:t>Двухпанельный</a:t>
            </a:r>
            <a:r>
              <a:rPr lang="ru-RU" b="1" dirty="0" smtClean="0"/>
              <a:t> </a:t>
            </a:r>
            <a:r>
              <a:rPr lang="ru-RU" b="1" dirty="0"/>
              <a:t>файловый менеджер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копирование, перемещение, удаление, </a:t>
            </a:r>
            <a:r>
              <a:rPr lang="ru-RU" dirty="0" smtClean="0"/>
              <a:t>переименование файлов и папок</a:t>
            </a:r>
            <a:endParaRPr lang="ru-RU" dirty="0"/>
          </a:p>
          <a:p>
            <a:pPr lvl="1"/>
            <a:r>
              <a:rPr lang="ru-RU" dirty="0"/>
              <a:t>создание </a:t>
            </a:r>
            <a:r>
              <a:rPr lang="ru-RU" dirty="0" smtClean="0"/>
              <a:t>папок</a:t>
            </a:r>
            <a:endParaRPr lang="ru-RU" dirty="0"/>
          </a:p>
          <a:p>
            <a:r>
              <a:rPr lang="ru-RU" b="1" dirty="0" err="1" smtClean="0"/>
              <a:t>Плагинная</a:t>
            </a:r>
            <a:r>
              <a:rPr lang="ru-RU" b="1" dirty="0" smtClean="0"/>
              <a:t> </a:t>
            </a:r>
            <a:r>
              <a:rPr lang="ru-RU" b="1" dirty="0"/>
              <a:t>система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загрузка плагинов при </a:t>
            </a:r>
            <a:r>
              <a:rPr lang="ru-RU" dirty="0" smtClean="0"/>
              <a:t>старте</a:t>
            </a:r>
            <a:endParaRPr lang="ru-RU" dirty="0"/>
          </a:p>
          <a:p>
            <a:pPr lvl="1"/>
            <a:r>
              <a:rPr lang="ru-RU" dirty="0"/>
              <a:t>каждый плагин получает </a:t>
            </a:r>
            <a:r>
              <a:rPr lang="ru-RU" dirty="0" err="1" smtClean="0"/>
              <a:t>ApplicationAPI</a:t>
            </a:r>
            <a:endParaRPr lang="ru-RU" dirty="0"/>
          </a:p>
          <a:p>
            <a:pPr lvl="1"/>
            <a:r>
              <a:rPr lang="ru-RU" dirty="0"/>
              <a:t>плагины могут:</a:t>
            </a:r>
          </a:p>
          <a:p>
            <a:pPr lvl="2"/>
            <a:r>
              <a:rPr lang="ru-RU" dirty="0" smtClean="0"/>
              <a:t>регистрировать </a:t>
            </a:r>
            <a:r>
              <a:rPr lang="ru-RU" dirty="0"/>
              <a:t>горячие </a:t>
            </a:r>
            <a:r>
              <a:rPr lang="ru-RU" dirty="0" smtClean="0"/>
              <a:t>клавиши</a:t>
            </a:r>
            <a:endParaRPr lang="ru-RU" dirty="0"/>
          </a:p>
          <a:p>
            <a:pPr lvl="2"/>
            <a:r>
              <a:rPr lang="ru-RU" dirty="0"/>
              <a:t>вызывать операции над </a:t>
            </a:r>
            <a:r>
              <a:rPr lang="ru-RU" dirty="0" smtClean="0"/>
              <a:t>файлами</a:t>
            </a:r>
            <a:endParaRPr lang="ru-RU" dirty="0"/>
          </a:p>
          <a:p>
            <a:pPr lvl="2"/>
            <a:r>
              <a:rPr lang="ru-RU" dirty="0"/>
              <a:t>расширять </a:t>
            </a:r>
            <a:r>
              <a:rPr lang="ru-RU" dirty="0" smtClean="0"/>
              <a:t>UI</a:t>
            </a:r>
            <a:endParaRPr lang="ru-RU" dirty="0"/>
          </a:p>
          <a:p>
            <a:r>
              <a:rPr lang="ru-RU" b="1" dirty="0"/>
              <a:t>Централизованные горячие клавиши</a:t>
            </a:r>
            <a:r>
              <a:rPr lang="ru-RU" dirty="0"/>
              <a:t>:</a:t>
            </a:r>
          </a:p>
          <a:p>
            <a:pPr lvl="1"/>
            <a:r>
              <a:rPr lang="ru-RU" dirty="0" err="1"/>
              <a:t>шорткаты</a:t>
            </a:r>
            <a:r>
              <a:rPr lang="ru-RU" dirty="0"/>
              <a:t> регистрируются через </a:t>
            </a:r>
            <a:r>
              <a:rPr lang="ru-RU" dirty="0" err="1" smtClean="0"/>
              <a:t>ShortcutManager</a:t>
            </a:r>
            <a:endParaRPr lang="ru-RU" dirty="0"/>
          </a:p>
          <a:p>
            <a:pPr lvl="1"/>
            <a:r>
              <a:rPr lang="ru-RU" dirty="0"/>
              <a:t>автоматически удаляются при выгрузке </a:t>
            </a:r>
            <a:r>
              <a:rPr lang="ru-RU" dirty="0" smtClean="0"/>
              <a:t>плагина</a:t>
            </a:r>
            <a:endParaRPr lang="ru-RU" dirty="0"/>
          </a:p>
          <a:p>
            <a:endParaRPr lang="ru-RU" b="1" dirty="0" smtClean="0"/>
          </a:p>
          <a:p>
            <a:r>
              <a:rPr lang="ru-RU" b="1" dirty="0" smtClean="0"/>
              <a:t>Чистое </a:t>
            </a:r>
            <a:r>
              <a:rPr lang="ru-RU" b="1" dirty="0"/>
              <a:t>разделение слоёв</a:t>
            </a:r>
            <a:r>
              <a:rPr lang="ru-RU" dirty="0"/>
              <a:t>:</a:t>
            </a:r>
          </a:p>
          <a:p>
            <a:pPr lvl="1"/>
            <a:r>
              <a:rPr lang="ru-RU" dirty="0" err="1"/>
              <a:t>core</a:t>
            </a:r>
            <a:r>
              <a:rPr lang="ru-RU" dirty="0"/>
              <a:t> не зависит от </a:t>
            </a:r>
            <a:r>
              <a:rPr lang="ru-RU" dirty="0" smtClean="0"/>
              <a:t>UI</a:t>
            </a:r>
            <a:endParaRPr lang="ru-RU" dirty="0"/>
          </a:p>
          <a:p>
            <a:pPr lvl="1"/>
            <a:r>
              <a:rPr lang="ru-RU" dirty="0" err="1"/>
              <a:t>app</a:t>
            </a:r>
            <a:r>
              <a:rPr lang="ru-RU" dirty="0"/>
              <a:t> отвечает за UI и </a:t>
            </a:r>
            <a:r>
              <a:rPr lang="ru-RU" dirty="0" smtClean="0"/>
              <a:t>инфраструктуру</a:t>
            </a:r>
            <a:endParaRPr lang="ru-RU" dirty="0"/>
          </a:p>
          <a:p>
            <a:pPr lvl="1"/>
            <a:r>
              <a:rPr lang="ru-RU" dirty="0"/>
              <a:t>плагины работают только через </a:t>
            </a:r>
            <a:r>
              <a:rPr lang="ru-RU" dirty="0" smtClean="0"/>
              <a:t>API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145657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423</Words>
  <Application>Microsoft Office PowerPoint</Application>
  <PresentationFormat>Экран (4:3)</PresentationFormat>
  <Paragraphs>76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Belkin Commander</vt:lpstr>
      <vt:lpstr>Высокоуровневая архитектура</vt:lpstr>
      <vt:lpstr>Архитектура плагинной системы</vt:lpstr>
      <vt:lpstr>ShortcutManager</vt:lpstr>
      <vt:lpstr>FilePanel и операции над файлами</vt:lpstr>
      <vt:lpstr>Использованные паттерны проектирования</vt:lpstr>
      <vt:lpstr>Выводы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архитектуры Belkin Commander</dc:title>
  <dc:creator>Aleks</dc:creator>
  <cp:lastModifiedBy>Aleks</cp:lastModifiedBy>
  <cp:revision>15</cp:revision>
  <dcterms:created xsi:type="dcterms:W3CDTF">2026-02-06T07:39:34Z</dcterms:created>
  <dcterms:modified xsi:type="dcterms:W3CDTF">2026-02-18T15:47:11Z</dcterms:modified>
</cp:coreProperties>
</file>